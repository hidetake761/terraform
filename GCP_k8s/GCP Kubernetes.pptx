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5EE7"/>
    <a:srgbClr val="044CEC"/>
    <a:srgbClr val="9E5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1937FB-C0CB-0B0D-2BCD-7DAD37F5E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261DFC-2798-7C16-5078-6FB7C0F38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AF579B-3C76-4D82-948E-5C2DD96E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75AC94-53FD-14A7-0E4C-D3F576FC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10632A-3BB1-6A5A-65DF-369B4C34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21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F3D410-C3B0-C8CC-CEB9-BFD3E94C4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92ECC7-FBED-B1B1-688B-FA5532991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D304A1-20B5-4D5D-6410-91C7D97F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2D1DDA-3FC3-E3A9-BED0-7C462C73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8072CC-8DBF-2B0D-893F-91447A5A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1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32338-A7AE-D6BB-1158-3216DFD0D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131B8E-2C5A-3D46-C288-17A6469C6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2EE4D2-FE76-AA80-91FE-41BE536E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92B0CB-AD5D-D1E2-6E97-B0F27B0FB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57E3FC-B346-D658-AA62-7BD319CD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428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59098E-D4C1-45E3-2574-6C122D739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5D2484-7DF6-8EEE-32D2-213753980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0D6A61-255C-6D23-2E7D-22E63345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67DF30-5626-E666-CC7C-8C72EEE7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9107F6-0123-795E-58A3-F5651E48A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FDC44B-F459-91DC-361A-6246B80B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43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1F14C8-C97A-89E8-F8A1-0C423AFA1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295C8F-893B-D033-69BC-0C6C22DAD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079DEB-6EFC-E810-E990-29A48AD2A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CE1405A-2E08-EDF7-8B57-C89B4F2E5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6B40ED-AE76-429A-6FD8-69786AC35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FB5050-ED3A-E70B-2AB1-5CA38813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D3F802-987E-CDB4-20BE-7910E5AC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2F3E37-40B4-EED7-9049-AA61A08C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534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07A07B-7F02-E21E-D5FC-F4D28B2B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F3E84F-7882-4ABE-9B2B-F722D718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6BFF75B-6744-3136-D385-85A4D563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2BBB375-07C6-B861-A7E3-69925145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453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3939523-B762-D79B-74F0-069A4BB98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1A93027-CAF3-4998-188B-668CFE05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EB46EA-46DF-6333-FCB1-5EBA7D6DD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276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E238D9-509D-865C-8CD5-DF2CA289C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2B4C22-6671-8C5C-385F-4029661E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A74970-7E8A-6FEA-CC60-14965B486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C2C6ED-7878-F141-FF37-97EE526C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336067-58B9-AAFF-DDBF-61765F15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427FED-3D31-A225-8F01-54AE008B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924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5EB594-DDD6-7FC7-F5BC-028D88C4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059A779-7D55-C96B-3AFF-78BEFC60B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1CA82E-1DBD-31B9-E309-E447ABFDF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249695-FA11-E3DC-5C9E-C9813817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CF6276-26F9-C044-02ED-7867C4A1E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5FE36A-134A-418F-DC59-2FDBACB6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933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7941E1-8A0B-D483-42AE-A4B52318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2A5177-8102-097A-C8D8-534BA4E29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52FA7A-0C90-178C-6172-D5A63786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B315C6-E09C-68B5-D279-18916C7D7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E2083C-0AE6-92AA-0C02-6DE1E0B0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731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C2E9091-BBAE-80D5-C208-B0ADA1CDC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D1B24C-4231-AAD8-B498-690A8BD8A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FA5418-EBC6-C855-90E5-387E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A3B69C-8790-1291-4D3C-386B0C668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9D6BE4-7F23-E964-6BBD-883FB9ED8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2297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FCFEA9E-41B3-F135-8D06-46A2DC18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996DB7-0CA8-4F9A-81AA-D8CB3DA5D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DB6F0D-A35C-CEB1-189A-C82875EAD9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1F324-A2BE-4941-B77E-48AA4DC1A7B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A0AE8A-B43A-AFAB-E950-F543B1E62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7041BE-8F0A-E025-9C11-1F92F01C3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67DC5-BE92-475C-B8A6-FB96F24FC8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169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雲 31">
            <a:extLst>
              <a:ext uri="{FF2B5EF4-FFF2-40B4-BE49-F238E27FC236}">
                <a16:creationId xmlns:a16="http://schemas.microsoft.com/office/drawing/2014/main" id="{24FF8442-1A2B-B537-0D9C-B5719607F5A2}"/>
              </a:ext>
            </a:extLst>
          </p:cNvPr>
          <p:cNvSpPr/>
          <p:nvPr/>
        </p:nvSpPr>
        <p:spPr>
          <a:xfrm>
            <a:off x="85725" y="2511307"/>
            <a:ext cx="1611900" cy="3343852"/>
          </a:xfrm>
          <a:prstGeom prst="cloud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22E16529-A60D-D085-F2F4-801A1C059E69}"/>
              </a:ext>
            </a:extLst>
          </p:cNvPr>
          <p:cNvSpPr/>
          <p:nvPr/>
        </p:nvSpPr>
        <p:spPr>
          <a:xfrm>
            <a:off x="3334009" y="2214239"/>
            <a:ext cx="4829763" cy="39092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6AEA8BD-540C-AE5A-44E4-B06161BAFD1F}"/>
              </a:ext>
            </a:extLst>
          </p:cNvPr>
          <p:cNvSpPr/>
          <p:nvPr/>
        </p:nvSpPr>
        <p:spPr>
          <a:xfrm>
            <a:off x="4462700" y="2392944"/>
            <a:ext cx="3551348" cy="369243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AC7A819-CF6D-C956-1854-B1D2E4092909}"/>
              </a:ext>
            </a:extLst>
          </p:cNvPr>
          <p:cNvSpPr/>
          <p:nvPr/>
        </p:nvSpPr>
        <p:spPr>
          <a:xfrm>
            <a:off x="4691566" y="3110938"/>
            <a:ext cx="3134576" cy="2744221"/>
          </a:xfrm>
          <a:prstGeom prst="roundRect">
            <a:avLst/>
          </a:prstGeom>
          <a:solidFill>
            <a:srgbClr val="095E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66F30711-3AD5-D36F-924B-8BFCE4965B24}"/>
              </a:ext>
            </a:extLst>
          </p:cNvPr>
          <p:cNvSpPr/>
          <p:nvPr/>
        </p:nvSpPr>
        <p:spPr>
          <a:xfrm>
            <a:off x="9436229" y="2912891"/>
            <a:ext cx="1811347" cy="27544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049DC7B-C20E-F756-C615-88070BE27CE5}"/>
              </a:ext>
            </a:extLst>
          </p:cNvPr>
          <p:cNvSpPr/>
          <p:nvPr/>
        </p:nvSpPr>
        <p:spPr>
          <a:xfrm>
            <a:off x="2305050" y="764693"/>
            <a:ext cx="9477374" cy="5569432"/>
          </a:xfrm>
          <a:prstGeom prst="roundRect">
            <a:avLst/>
          </a:prstGeom>
          <a:noFill/>
          <a:ln w="28575">
            <a:solidFill>
              <a:srgbClr val="095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0731D9-83B4-BE40-A360-5FA4BAB68C01}"/>
              </a:ext>
            </a:extLst>
          </p:cNvPr>
          <p:cNvSpPr txBox="1"/>
          <p:nvPr/>
        </p:nvSpPr>
        <p:spPr>
          <a:xfrm>
            <a:off x="6606026" y="286062"/>
            <a:ext cx="12394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solidFill>
                  <a:srgbClr val="095EE7"/>
                </a:solidFill>
              </a:rPr>
              <a:t>GCP</a:t>
            </a:r>
            <a:endParaRPr kumimoji="1" lang="ja-JP" altLang="en-US" sz="3200" b="1" dirty="0">
              <a:solidFill>
                <a:srgbClr val="095EE7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08B1FB-6B98-4C8F-6048-93861340003B}"/>
              </a:ext>
            </a:extLst>
          </p:cNvPr>
          <p:cNvSpPr txBox="1"/>
          <p:nvPr/>
        </p:nvSpPr>
        <p:spPr>
          <a:xfrm>
            <a:off x="5500487" y="3099874"/>
            <a:ext cx="146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Kubernetes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B796B43-DCCC-6ABD-834F-420FF095A33C}"/>
              </a:ext>
            </a:extLst>
          </p:cNvPr>
          <p:cNvSpPr txBox="1"/>
          <p:nvPr/>
        </p:nvSpPr>
        <p:spPr>
          <a:xfrm flipH="1">
            <a:off x="5885711" y="2511307"/>
            <a:ext cx="72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GKE</a:t>
            </a:r>
            <a:endParaRPr kumimoji="1" lang="ja-JP" altLang="en-US" dirty="0"/>
          </a:p>
        </p:txBody>
      </p:sp>
      <p:pic>
        <p:nvPicPr>
          <p:cNvPr id="17" name="グラフィックス 16" descr="ネットワーク図">
            <a:extLst>
              <a:ext uri="{FF2B5EF4-FFF2-40B4-BE49-F238E27FC236}">
                <a16:creationId xmlns:a16="http://schemas.microsoft.com/office/drawing/2014/main" id="{BCCECE1F-3652-7F3D-0C9B-60E1F9ADF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947437" y="3116742"/>
            <a:ext cx="914400" cy="914400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CB13448-120A-93AB-CA50-13C86E6FCBE2}"/>
              </a:ext>
            </a:extLst>
          </p:cNvPr>
          <p:cNvSpPr txBox="1"/>
          <p:nvPr/>
        </p:nvSpPr>
        <p:spPr>
          <a:xfrm>
            <a:off x="2448987" y="3810129"/>
            <a:ext cx="2099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External Application Load Balancer</a:t>
            </a:r>
            <a:endParaRPr kumimoji="1" lang="ja-JP" altLang="en-US" sz="1600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907218A-6CE0-45B4-44AD-59079E4FD1EB}"/>
              </a:ext>
            </a:extLst>
          </p:cNvPr>
          <p:cNvSpPr/>
          <p:nvPr/>
        </p:nvSpPr>
        <p:spPr>
          <a:xfrm>
            <a:off x="5581465" y="1060039"/>
            <a:ext cx="1781360" cy="65603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01553E-092E-E8B4-DBDD-445B441BE47A}"/>
              </a:ext>
            </a:extLst>
          </p:cNvPr>
          <p:cNvSpPr txBox="1"/>
          <p:nvPr/>
        </p:nvSpPr>
        <p:spPr>
          <a:xfrm>
            <a:off x="5581465" y="1069613"/>
            <a:ext cx="1853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Cloud Logging</a:t>
            </a:r>
          </a:p>
          <a:p>
            <a:r>
              <a:rPr lang="en-US" altLang="ja-JP" sz="1600" dirty="0"/>
              <a:t>Cloud Monitoring</a:t>
            </a:r>
            <a:endParaRPr kumimoji="1" lang="ja-JP" altLang="en-US" sz="1600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9F940AA-54B5-2BA8-2802-F4213F00EDB4}"/>
              </a:ext>
            </a:extLst>
          </p:cNvPr>
          <p:cNvCxnSpPr>
            <a:cxnSpLocks/>
          </p:cNvCxnSpPr>
          <p:nvPr/>
        </p:nvCxnSpPr>
        <p:spPr>
          <a:xfrm>
            <a:off x="6849121" y="1733042"/>
            <a:ext cx="51011" cy="1564709"/>
          </a:xfrm>
          <a:prstGeom prst="straightConnector1">
            <a:avLst/>
          </a:prstGeom>
          <a:ln w="254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C2F8DCC-7C22-4A61-02F4-A23AD4E7C9E2}"/>
              </a:ext>
            </a:extLst>
          </p:cNvPr>
          <p:cNvSpPr txBox="1"/>
          <p:nvPr/>
        </p:nvSpPr>
        <p:spPr>
          <a:xfrm>
            <a:off x="5620884" y="1788250"/>
            <a:ext cx="13352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monitoring</a:t>
            </a:r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4C564B0-C305-7E78-7DEE-7C228A25A732}"/>
              </a:ext>
            </a:extLst>
          </p:cNvPr>
          <p:cNvSpPr txBox="1"/>
          <p:nvPr/>
        </p:nvSpPr>
        <p:spPr>
          <a:xfrm>
            <a:off x="3632654" y="2323974"/>
            <a:ext cx="82184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Our</a:t>
            </a:r>
          </a:p>
          <a:p>
            <a:r>
              <a:rPr kumimoji="1" lang="en-US" altLang="ja-JP" sz="2400" dirty="0"/>
              <a:t>VPC</a:t>
            </a:r>
            <a:endParaRPr kumimoji="1" lang="ja-JP" altLang="en-US" sz="24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52059F2-4BFA-7148-4C39-83C37108C869}"/>
              </a:ext>
            </a:extLst>
          </p:cNvPr>
          <p:cNvCxnSpPr>
            <a:cxnSpLocks/>
          </p:cNvCxnSpPr>
          <p:nvPr/>
        </p:nvCxnSpPr>
        <p:spPr>
          <a:xfrm flipH="1">
            <a:off x="6832725" y="2247667"/>
            <a:ext cx="1648487" cy="130174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290E93E-920C-B31D-7198-1321136EF184}"/>
              </a:ext>
            </a:extLst>
          </p:cNvPr>
          <p:cNvSpPr txBox="1"/>
          <p:nvPr/>
        </p:nvSpPr>
        <p:spPr>
          <a:xfrm>
            <a:off x="8077481" y="2449373"/>
            <a:ext cx="165354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Docker image</a:t>
            </a:r>
            <a:endParaRPr kumimoji="1" lang="ja-JP" altLang="en-US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9B6ACECA-A334-AB86-5207-A65B63F492CD}"/>
              </a:ext>
            </a:extLst>
          </p:cNvPr>
          <p:cNvSpPr/>
          <p:nvPr/>
        </p:nvSpPr>
        <p:spPr>
          <a:xfrm>
            <a:off x="8474372" y="1716723"/>
            <a:ext cx="859761" cy="5276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847911C-3592-7394-A2C6-06673B50769C}"/>
              </a:ext>
            </a:extLst>
          </p:cNvPr>
          <p:cNvSpPr txBox="1"/>
          <p:nvPr/>
        </p:nvSpPr>
        <p:spPr>
          <a:xfrm flipH="1">
            <a:off x="8452509" y="1725795"/>
            <a:ext cx="962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Artifact Registry</a:t>
            </a:r>
            <a:endParaRPr kumimoji="1" lang="ja-JP" altLang="en-US" sz="1600" dirty="0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0BF80F5D-770D-FE3C-B181-ABCA1C7A7D80}"/>
              </a:ext>
            </a:extLst>
          </p:cNvPr>
          <p:cNvSpPr/>
          <p:nvPr/>
        </p:nvSpPr>
        <p:spPr>
          <a:xfrm>
            <a:off x="9530038" y="4239162"/>
            <a:ext cx="1332779" cy="615553"/>
          </a:xfrm>
          <a:prstGeom prst="roundRect">
            <a:avLst/>
          </a:prstGeom>
          <a:solidFill>
            <a:srgbClr val="9E5E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A0ECFB0-378B-CAEF-65D6-ECEDB88279F3}"/>
              </a:ext>
            </a:extLst>
          </p:cNvPr>
          <p:cNvSpPr txBox="1"/>
          <p:nvPr/>
        </p:nvSpPr>
        <p:spPr>
          <a:xfrm>
            <a:off x="9574286" y="4239162"/>
            <a:ext cx="130594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Cloud SQL</a:t>
            </a:r>
            <a:r>
              <a:rPr lang="en-US" altLang="ja-JP" sz="1600" dirty="0"/>
              <a:t> PostgreSQL</a:t>
            </a:r>
            <a:endParaRPr kumimoji="1" lang="ja-JP" altLang="en-US" sz="1600" dirty="0"/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D1EA34DD-C4C8-B0E3-CC19-BDDC4DDA8B7F}"/>
              </a:ext>
            </a:extLst>
          </p:cNvPr>
          <p:cNvCxnSpPr>
            <a:cxnSpLocks/>
          </p:cNvCxnSpPr>
          <p:nvPr/>
        </p:nvCxnSpPr>
        <p:spPr>
          <a:xfrm>
            <a:off x="1697625" y="3583633"/>
            <a:ext cx="136085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1BEEC77-CE13-E53E-0CA5-B0EAC89C7FC8}"/>
              </a:ext>
            </a:extLst>
          </p:cNvPr>
          <p:cNvSpPr txBox="1"/>
          <p:nvPr/>
        </p:nvSpPr>
        <p:spPr>
          <a:xfrm>
            <a:off x="9557502" y="2968525"/>
            <a:ext cx="117023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Google</a:t>
            </a:r>
          </a:p>
          <a:p>
            <a:r>
              <a:rPr kumimoji="1" lang="en-US" altLang="ja-JP" sz="2400" dirty="0"/>
              <a:t>VPC</a:t>
            </a:r>
            <a:endParaRPr kumimoji="1" lang="ja-JP" altLang="en-US" sz="24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8F78887-670E-8639-AC65-B7CD0E64BC3B}"/>
              </a:ext>
            </a:extLst>
          </p:cNvPr>
          <p:cNvSpPr txBox="1"/>
          <p:nvPr/>
        </p:nvSpPr>
        <p:spPr>
          <a:xfrm>
            <a:off x="8295875" y="4483048"/>
            <a:ext cx="99063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Private Services Access</a:t>
            </a:r>
            <a:endParaRPr kumimoji="1" lang="ja-JP" altLang="en-US" sz="1600" dirty="0"/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E9D3FAA4-4BFF-3CA4-D241-8AAADB0CC5DA}"/>
              </a:ext>
            </a:extLst>
          </p:cNvPr>
          <p:cNvCxnSpPr>
            <a:cxnSpLocks/>
          </p:cNvCxnSpPr>
          <p:nvPr/>
        </p:nvCxnSpPr>
        <p:spPr>
          <a:xfrm>
            <a:off x="3767383" y="3583633"/>
            <a:ext cx="68711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7E4C0A85-85AE-9A20-75C6-71932CDA6D23}"/>
              </a:ext>
            </a:extLst>
          </p:cNvPr>
          <p:cNvSpPr txBox="1"/>
          <p:nvPr/>
        </p:nvSpPr>
        <p:spPr>
          <a:xfrm>
            <a:off x="2915287" y="4605510"/>
            <a:ext cx="93793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Cloud NAT Cloud Router</a:t>
            </a:r>
            <a:endParaRPr kumimoji="1" lang="ja-JP" altLang="en-US" sz="2400" dirty="0"/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C5FADF77-A6E9-BDD3-4E6E-1075D485BA37}"/>
              </a:ext>
            </a:extLst>
          </p:cNvPr>
          <p:cNvSpPr/>
          <p:nvPr/>
        </p:nvSpPr>
        <p:spPr>
          <a:xfrm>
            <a:off x="4853171" y="3549409"/>
            <a:ext cx="1378691" cy="211796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14ECBED-2F27-E4AE-5D71-1F30069599C7}"/>
              </a:ext>
            </a:extLst>
          </p:cNvPr>
          <p:cNvSpPr/>
          <p:nvPr/>
        </p:nvSpPr>
        <p:spPr>
          <a:xfrm>
            <a:off x="4958421" y="3607128"/>
            <a:ext cx="1165517" cy="144790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B8585E1-083B-7454-7F68-C3DA1442CF60}"/>
              </a:ext>
            </a:extLst>
          </p:cNvPr>
          <p:cNvSpPr txBox="1"/>
          <p:nvPr/>
        </p:nvSpPr>
        <p:spPr>
          <a:xfrm flipH="1">
            <a:off x="4988731" y="3716985"/>
            <a:ext cx="11994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Docker container:</a:t>
            </a:r>
          </a:p>
          <a:p>
            <a:r>
              <a:rPr kumimoji="1" lang="en-US" altLang="ja-JP" sz="1600" dirty="0"/>
              <a:t>Go CLI monitoring tool</a:t>
            </a:r>
            <a:endParaRPr kumimoji="1" lang="ja-JP" altLang="en-US" sz="1600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E3F9BE5F-02D0-E9BC-CD62-83BD5FCA4A99}"/>
              </a:ext>
            </a:extLst>
          </p:cNvPr>
          <p:cNvSpPr txBox="1"/>
          <p:nvPr/>
        </p:nvSpPr>
        <p:spPr>
          <a:xfrm flipH="1">
            <a:off x="5251471" y="5314045"/>
            <a:ext cx="583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Pod</a:t>
            </a:r>
            <a:endParaRPr kumimoji="1" lang="ja-JP" altLang="en-US" sz="1600" dirty="0"/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004E5035-E456-7B23-2594-2E1F9BD5CD32}"/>
              </a:ext>
            </a:extLst>
          </p:cNvPr>
          <p:cNvSpPr/>
          <p:nvPr/>
        </p:nvSpPr>
        <p:spPr>
          <a:xfrm>
            <a:off x="6355656" y="3585667"/>
            <a:ext cx="1378691" cy="211796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3512E8C9-6A5F-D09C-B213-4D945D663D45}"/>
              </a:ext>
            </a:extLst>
          </p:cNvPr>
          <p:cNvSpPr/>
          <p:nvPr/>
        </p:nvSpPr>
        <p:spPr>
          <a:xfrm>
            <a:off x="6488624" y="3628670"/>
            <a:ext cx="1128195" cy="14263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83B55922-4A81-04EB-6318-60F6AA365A33}"/>
              </a:ext>
            </a:extLst>
          </p:cNvPr>
          <p:cNvCxnSpPr>
            <a:cxnSpLocks/>
          </p:cNvCxnSpPr>
          <p:nvPr/>
        </p:nvCxnSpPr>
        <p:spPr>
          <a:xfrm>
            <a:off x="7616819" y="4483048"/>
            <a:ext cx="1913219" cy="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91356782-61DB-CAE0-698B-1083F122F7E1}"/>
              </a:ext>
            </a:extLst>
          </p:cNvPr>
          <p:cNvSpPr txBox="1"/>
          <p:nvPr/>
        </p:nvSpPr>
        <p:spPr>
          <a:xfrm flipH="1">
            <a:off x="6832725" y="5328821"/>
            <a:ext cx="583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Pod</a:t>
            </a:r>
            <a:endParaRPr kumimoji="1" lang="ja-JP" altLang="en-US" sz="16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1D45B0F-BDFE-E778-0AED-C51A7222C124}"/>
              </a:ext>
            </a:extLst>
          </p:cNvPr>
          <p:cNvSpPr txBox="1"/>
          <p:nvPr/>
        </p:nvSpPr>
        <p:spPr>
          <a:xfrm flipH="1">
            <a:off x="6511311" y="3751524"/>
            <a:ext cx="11994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Docker container:</a:t>
            </a:r>
          </a:p>
          <a:p>
            <a:r>
              <a:rPr kumimoji="1" lang="en-US" altLang="ja-JP" sz="1600" dirty="0"/>
              <a:t>Django</a:t>
            </a:r>
          </a:p>
          <a:p>
            <a:r>
              <a:rPr lang="en-US" altLang="ja-JP" sz="1600" dirty="0"/>
              <a:t>API server</a:t>
            </a:r>
            <a:endParaRPr kumimoji="1" lang="ja-JP" altLang="en-US" sz="1600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01A5A0CC-E624-A160-9A0B-E82CE7C68CEB}"/>
              </a:ext>
            </a:extLst>
          </p:cNvPr>
          <p:cNvCxnSpPr>
            <a:cxnSpLocks/>
          </p:cNvCxnSpPr>
          <p:nvPr/>
        </p:nvCxnSpPr>
        <p:spPr>
          <a:xfrm flipH="1">
            <a:off x="1416173" y="5216409"/>
            <a:ext cx="306252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B576171-23B4-C59F-A5FA-E7501EE55939}"/>
              </a:ext>
            </a:extLst>
          </p:cNvPr>
          <p:cNvSpPr txBox="1"/>
          <p:nvPr/>
        </p:nvSpPr>
        <p:spPr>
          <a:xfrm rot="16200000">
            <a:off x="647714" y="3498356"/>
            <a:ext cx="461665" cy="937938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 anchor="ctr">
            <a:spAutoFit/>
          </a:bodyPr>
          <a:lstStyle/>
          <a:p>
            <a:r>
              <a:rPr lang="en-US" altLang="ja-JP" dirty="0"/>
              <a:t>Internet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19219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B196A-27E7-8ACA-6517-2167AB2E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CBCE918-0021-23C4-CC2D-8F11D5F588C4}"/>
              </a:ext>
            </a:extLst>
          </p:cNvPr>
          <p:cNvSpPr/>
          <p:nvPr/>
        </p:nvSpPr>
        <p:spPr>
          <a:xfrm>
            <a:off x="7011645" y="1921238"/>
            <a:ext cx="3581400" cy="39092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40374895-770A-7455-8669-C9C0C714048B}"/>
              </a:ext>
            </a:extLst>
          </p:cNvPr>
          <p:cNvSpPr/>
          <p:nvPr/>
        </p:nvSpPr>
        <p:spPr>
          <a:xfrm>
            <a:off x="2876481" y="1900281"/>
            <a:ext cx="3581400" cy="39092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17BE4CF-09DC-C0DB-1528-24403917917C}"/>
              </a:ext>
            </a:extLst>
          </p:cNvPr>
          <p:cNvSpPr/>
          <p:nvPr/>
        </p:nvSpPr>
        <p:spPr>
          <a:xfrm>
            <a:off x="2316288" y="734481"/>
            <a:ext cx="8808911" cy="5569432"/>
          </a:xfrm>
          <a:prstGeom prst="roundRect">
            <a:avLst/>
          </a:prstGeom>
          <a:noFill/>
          <a:ln w="28575">
            <a:solidFill>
              <a:srgbClr val="095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852CFE0-803B-E0D0-54F3-EFB8DC353864}"/>
              </a:ext>
            </a:extLst>
          </p:cNvPr>
          <p:cNvSpPr txBox="1"/>
          <p:nvPr/>
        </p:nvSpPr>
        <p:spPr>
          <a:xfrm>
            <a:off x="5386924" y="261699"/>
            <a:ext cx="2667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solidFill>
                  <a:srgbClr val="095EE7"/>
                </a:solidFill>
              </a:rPr>
              <a:t>GKE Cluster</a:t>
            </a:r>
            <a:endParaRPr kumimoji="1" lang="ja-JP" altLang="en-US" sz="3200" b="1" dirty="0">
              <a:solidFill>
                <a:srgbClr val="095EE7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074E89-AA59-7A85-D9C0-4C02E1B62B10}"/>
              </a:ext>
            </a:extLst>
          </p:cNvPr>
          <p:cNvSpPr txBox="1"/>
          <p:nvPr/>
        </p:nvSpPr>
        <p:spPr>
          <a:xfrm flipH="1">
            <a:off x="4404823" y="1983107"/>
            <a:ext cx="89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Node</a:t>
            </a:r>
            <a:endParaRPr kumimoji="1" lang="ja-JP" altLang="en-US" dirty="0"/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F2544F9E-C442-D756-4BEE-66C6A6F33DB5}"/>
              </a:ext>
            </a:extLst>
          </p:cNvPr>
          <p:cNvSpPr/>
          <p:nvPr/>
        </p:nvSpPr>
        <p:spPr>
          <a:xfrm>
            <a:off x="4864445" y="2987169"/>
            <a:ext cx="1378691" cy="211796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DF52EBB-D061-8F01-B082-D1516F7708FC}"/>
              </a:ext>
            </a:extLst>
          </p:cNvPr>
          <p:cNvSpPr/>
          <p:nvPr/>
        </p:nvSpPr>
        <p:spPr>
          <a:xfrm>
            <a:off x="4976430" y="3092511"/>
            <a:ext cx="1165517" cy="1447905"/>
          </a:xfrm>
          <a:prstGeom prst="roundRect">
            <a:avLst/>
          </a:prstGeom>
          <a:solidFill>
            <a:srgbClr val="00B0F0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7E55C62-5B5D-4965-7381-DAFA54A07C7A}"/>
              </a:ext>
            </a:extLst>
          </p:cNvPr>
          <p:cNvSpPr txBox="1"/>
          <p:nvPr/>
        </p:nvSpPr>
        <p:spPr>
          <a:xfrm flipH="1">
            <a:off x="5000005" y="3154745"/>
            <a:ext cx="11994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Docker container:</a:t>
            </a:r>
          </a:p>
          <a:p>
            <a:r>
              <a:rPr kumimoji="1" lang="en-US" altLang="ja-JP" sz="1600" dirty="0"/>
              <a:t>Go CLI monitoring tool</a:t>
            </a:r>
            <a:endParaRPr kumimoji="1" lang="ja-JP" altLang="en-US" sz="1600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2EF76BDB-4E8B-68F2-709C-FB1A1D5CEF64}"/>
              </a:ext>
            </a:extLst>
          </p:cNvPr>
          <p:cNvSpPr txBox="1"/>
          <p:nvPr/>
        </p:nvSpPr>
        <p:spPr>
          <a:xfrm flipH="1">
            <a:off x="5298381" y="4684614"/>
            <a:ext cx="583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Pod</a:t>
            </a:r>
            <a:endParaRPr kumimoji="1" lang="ja-JP" altLang="en-US" sz="1600" dirty="0"/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44307227-FBF0-9942-E304-C71F7DF0D431}"/>
              </a:ext>
            </a:extLst>
          </p:cNvPr>
          <p:cNvSpPr/>
          <p:nvPr/>
        </p:nvSpPr>
        <p:spPr>
          <a:xfrm>
            <a:off x="3156577" y="2988507"/>
            <a:ext cx="1378691" cy="211796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A8D9CF0B-2EE4-095E-7F63-DEA8F9584BD7}"/>
              </a:ext>
            </a:extLst>
          </p:cNvPr>
          <p:cNvSpPr/>
          <p:nvPr/>
        </p:nvSpPr>
        <p:spPr>
          <a:xfrm>
            <a:off x="3313120" y="3105778"/>
            <a:ext cx="1128195" cy="14263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CCD4E6B7-164C-A46A-179A-D519777BBD5A}"/>
              </a:ext>
            </a:extLst>
          </p:cNvPr>
          <p:cNvSpPr txBox="1"/>
          <p:nvPr/>
        </p:nvSpPr>
        <p:spPr>
          <a:xfrm flipH="1">
            <a:off x="3633646" y="4731661"/>
            <a:ext cx="583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Pod</a:t>
            </a:r>
            <a:endParaRPr kumimoji="1" lang="ja-JP" altLang="en-US" sz="16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FCC9DB6-5D6C-770A-0E43-898BFC6B7FB2}"/>
              </a:ext>
            </a:extLst>
          </p:cNvPr>
          <p:cNvSpPr txBox="1"/>
          <p:nvPr/>
        </p:nvSpPr>
        <p:spPr>
          <a:xfrm flipH="1">
            <a:off x="3335807" y="3228632"/>
            <a:ext cx="11994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Docker container:</a:t>
            </a:r>
          </a:p>
          <a:p>
            <a:r>
              <a:rPr kumimoji="1" lang="en-US" altLang="ja-JP" sz="1600" dirty="0"/>
              <a:t>Django</a:t>
            </a:r>
          </a:p>
          <a:p>
            <a:r>
              <a:rPr lang="en-US" altLang="ja-JP" sz="1600" dirty="0"/>
              <a:t>API server</a:t>
            </a:r>
            <a:endParaRPr kumimoji="1" lang="ja-JP" altLang="en-US" sz="16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C43E7E-4C40-3E91-0834-2C52E67E2A41}"/>
              </a:ext>
            </a:extLst>
          </p:cNvPr>
          <p:cNvSpPr txBox="1"/>
          <p:nvPr/>
        </p:nvSpPr>
        <p:spPr>
          <a:xfrm flipH="1">
            <a:off x="8399173" y="2035011"/>
            <a:ext cx="78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Node</a:t>
            </a:r>
            <a:endParaRPr kumimoji="1" lang="ja-JP" altLang="en-US" dirty="0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8D80BF4D-6852-2BB2-526A-647B99CFD4BB}"/>
              </a:ext>
            </a:extLst>
          </p:cNvPr>
          <p:cNvSpPr/>
          <p:nvPr/>
        </p:nvSpPr>
        <p:spPr>
          <a:xfrm>
            <a:off x="7234661" y="3066405"/>
            <a:ext cx="1378691" cy="211796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7013C75E-7A5C-4324-E5E6-B37EA0F261FF}"/>
              </a:ext>
            </a:extLst>
          </p:cNvPr>
          <p:cNvSpPr/>
          <p:nvPr/>
        </p:nvSpPr>
        <p:spPr>
          <a:xfrm>
            <a:off x="7391204" y="3183676"/>
            <a:ext cx="1128195" cy="14263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BC470EC-2E67-7D95-9338-026EBE395ECD}"/>
              </a:ext>
            </a:extLst>
          </p:cNvPr>
          <p:cNvSpPr txBox="1"/>
          <p:nvPr/>
        </p:nvSpPr>
        <p:spPr>
          <a:xfrm flipH="1">
            <a:off x="7711730" y="4809559"/>
            <a:ext cx="583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Pod</a:t>
            </a:r>
            <a:endParaRPr kumimoji="1" lang="ja-JP" altLang="en-US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8D7DA05-9B01-3B7F-3E7C-BB003FAD9A13}"/>
              </a:ext>
            </a:extLst>
          </p:cNvPr>
          <p:cNvSpPr txBox="1"/>
          <p:nvPr/>
        </p:nvSpPr>
        <p:spPr>
          <a:xfrm flipH="1">
            <a:off x="7413891" y="3306530"/>
            <a:ext cx="11994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Docker container:</a:t>
            </a:r>
          </a:p>
          <a:p>
            <a:r>
              <a:rPr kumimoji="1" lang="en-US" altLang="ja-JP" sz="1600" dirty="0"/>
              <a:t>Django</a:t>
            </a:r>
          </a:p>
          <a:p>
            <a:r>
              <a:rPr lang="en-US" altLang="ja-JP" sz="1600" dirty="0"/>
              <a:t>API server</a:t>
            </a:r>
            <a:endParaRPr kumimoji="1" lang="ja-JP" altLang="en-US" sz="1600" dirty="0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6AC01C15-B334-49C5-3387-11CDD2A6B736}"/>
              </a:ext>
            </a:extLst>
          </p:cNvPr>
          <p:cNvSpPr/>
          <p:nvPr/>
        </p:nvSpPr>
        <p:spPr>
          <a:xfrm>
            <a:off x="4425596" y="839315"/>
            <a:ext cx="1128195" cy="63942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3F5E848-FF40-CB64-2E4E-A4651A1B9D4C}"/>
              </a:ext>
            </a:extLst>
          </p:cNvPr>
          <p:cNvSpPr txBox="1"/>
          <p:nvPr/>
        </p:nvSpPr>
        <p:spPr>
          <a:xfrm flipH="1">
            <a:off x="4506551" y="992680"/>
            <a:ext cx="96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6910F478-F34A-9922-D43E-E69B1A54FF01}"/>
              </a:ext>
            </a:extLst>
          </p:cNvPr>
          <p:cNvCxnSpPr>
            <a:cxnSpLocks/>
          </p:cNvCxnSpPr>
          <p:nvPr/>
        </p:nvCxnSpPr>
        <p:spPr>
          <a:xfrm flipV="1">
            <a:off x="2047875" y="1177346"/>
            <a:ext cx="2377721" cy="7229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8F5F247D-A303-35C3-DCB1-0182879B16B5}"/>
              </a:ext>
            </a:extLst>
          </p:cNvPr>
          <p:cNvCxnSpPr>
            <a:cxnSpLocks/>
          </p:cNvCxnSpPr>
          <p:nvPr/>
        </p:nvCxnSpPr>
        <p:spPr>
          <a:xfrm flipH="1">
            <a:off x="4018622" y="1478577"/>
            <a:ext cx="639942" cy="15085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D744156-8544-3E61-C7C1-40D16D077D82}"/>
              </a:ext>
            </a:extLst>
          </p:cNvPr>
          <p:cNvSpPr txBox="1"/>
          <p:nvPr/>
        </p:nvSpPr>
        <p:spPr>
          <a:xfrm flipH="1">
            <a:off x="2643606" y="1094520"/>
            <a:ext cx="1282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Ingress rule</a:t>
            </a:r>
            <a:endParaRPr kumimoji="1" lang="ja-JP" altLang="en-US" sz="1600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B6CDFE7-0682-95F6-0945-B0980FC7CEC4}"/>
              </a:ext>
            </a:extLst>
          </p:cNvPr>
          <p:cNvCxnSpPr>
            <a:cxnSpLocks/>
          </p:cNvCxnSpPr>
          <p:nvPr/>
        </p:nvCxnSpPr>
        <p:spPr>
          <a:xfrm>
            <a:off x="5566794" y="1425920"/>
            <a:ext cx="2136261" cy="1619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FB58FF4-8079-CE6F-9085-F14AD367FCDC}"/>
              </a:ext>
            </a:extLst>
          </p:cNvPr>
          <p:cNvSpPr txBox="1"/>
          <p:nvPr/>
        </p:nvSpPr>
        <p:spPr>
          <a:xfrm flipH="1">
            <a:off x="5126576" y="2448900"/>
            <a:ext cx="946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 err="1"/>
              <a:t>CronJob</a:t>
            </a:r>
            <a:endParaRPr lang="en-US" altLang="ja-JP" sz="1600" dirty="0"/>
          </a:p>
          <a:p>
            <a:pPr algn="ctr"/>
            <a:r>
              <a:rPr lang="en-US" altLang="ja-JP" sz="1600" dirty="0"/>
              <a:t>(1/day)</a:t>
            </a:r>
            <a:endParaRPr kumimoji="1" lang="ja-JP" altLang="en-US" sz="16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351AFD6-9A92-9909-FA54-FDA8A673CBB7}"/>
              </a:ext>
            </a:extLst>
          </p:cNvPr>
          <p:cNvSpPr txBox="1"/>
          <p:nvPr/>
        </p:nvSpPr>
        <p:spPr>
          <a:xfrm flipH="1">
            <a:off x="1133778" y="2167773"/>
            <a:ext cx="1166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Load</a:t>
            </a:r>
          </a:p>
          <a:p>
            <a:r>
              <a:rPr lang="en-US" altLang="ja-JP" dirty="0"/>
              <a:t>Balancer</a:t>
            </a:r>
            <a:endParaRPr kumimoji="1" lang="ja-JP" altLang="en-US" dirty="0"/>
          </a:p>
        </p:txBody>
      </p:sp>
      <p:pic>
        <p:nvPicPr>
          <p:cNvPr id="2" name="グラフィックス 1" descr="ネットワーク図">
            <a:extLst>
              <a:ext uri="{FF2B5EF4-FFF2-40B4-BE49-F238E27FC236}">
                <a16:creationId xmlns:a16="http://schemas.microsoft.com/office/drawing/2014/main" id="{3EA6B612-45FA-A30C-C28C-0151613F1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213744" y="14259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13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83</Words>
  <Application>Microsoft Office PowerPoint</Application>
  <PresentationFormat>ワイド画面</PresentationFormat>
  <Paragraphs>44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hideto takenaka</dc:creator>
  <cp:lastModifiedBy>hideto takenaka</cp:lastModifiedBy>
  <cp:revision>18</cp:revision>
  <dcterms:created xsi:type="dcterms:W3CDTF">2025-09-24T19:18:21Z</dcterms:created>
  <dcterms:modified xsi:type="dcterms:W3CDTF">2026-07-21T12:27:31Z</dcterms:modified>
</cp:coreProperties>
</file>